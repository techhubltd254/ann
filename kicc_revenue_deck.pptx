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Ramp %</c:v>
                </c:pt>
              </c:strCache>
            </c:strRef>
          </c:tx>
          <c:spPr>
            <a:solidFill>
              <a:srgbClr val="C9A227"/>
            </a:solidFill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1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45</c:v>
                </c:pt>
                <c:pt idx="2">
                  <c:v>75</c:v>
                </c:pt>
                <c:pt idx="3">
                  <c:v>95</c:v>
                </c:pt>
                <c:pt idx="4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1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1D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of maturity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mm)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$#,##0.0&quot;M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1.87</c:v>
                </c:pt>
                <c:pt idx="1">
                  <c:v>7.6</c:v>
                </c:pt>
                <c:pt idx="2">
                  <c:v>17.08</c:v>
                </c:pt>
                <c:pt idx="3">
                  <c:v>28</c:v>
                </c:pt>
                <c:pt idx="4">
                  <c:v>37.06</c:v>
                </c:pt>
              </c:numCache>
            </c:numRef>
          </c:val>
        </c:ser>
        <c:dLbls>
          <c:numFmt formatCode="$#,##0.0&quot;M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1D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 millions / year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Agriculture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121.5</c:v>
                </c:pt>
                <c:pt idx="2">
                  <c:v>427.5</c:v>
                </c:pt>
                <c:pt idx="3">
                  <c:v>832.5</c:v>
                </c:pt>
                <c:pt idx="4">
                  <c:v>1192.5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Minerals</c:v>
                </c:pt>
              </c:strCache>
            </c:strRef>
          </c:tx>
          <c:spPr>
            <a:solidFill>
              <a:srgbClr val="3A6B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61.9</c:v>
                </c:pt>
                <c:pt idx="3">
                  <c:v>187.4</c:v>
                </c:pt>
                <c:pt idx="4">
                  <c:v>314.8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Industrial &amp; SEZ</c:v>
                </c:pt>
              </c:strCache>
            </c:strRef>
          </c:tx>
          <c:spPr>
            <a:solidFill>
              <a:srgbClr val="6B8F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5.6</c:v>
                </c:pt>
                <c:pt idx="2">
                  <c:v>38.2</c:v>
                </c:pt>
                <c:pt idx="3">
                  <c:v>96.8</c:v>
                </c:pt>
                <c:pt idx="4">
                  <c:v>156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Energy &amp; Infra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16.9</c:v>
                </c:pt>
                <c:pt idx="4">
                  <c:v>52.9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Real Estate</c:v>
                </c:pt>
              </c:strCache>
            </c:strRef>
          </c:tx>
          <c:spPr>
            <a:solidFill>
              <a:srgbClr val="B589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49.5</c:v>
                </c:pt>
                <c:pt idx="1">
                  <c:v>167.6</c:v>
                </c:pt>
                <c:pt idx="2">
                  <c:v>304.9</c:v>
                </c:pt>
                <c:pt idx="3">
                  <c:v>409.1</c:v>
                </c:pt>
                <c:pt idx="4">
                  <c:v>451.1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Tourism</c:v>
                </c:pt>
              </c:strCache>
            </c:strRef>
          </c:tx>
          <c:spPr>
            <a:solidFill>
              <a:srgbClr val="9E3B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78.8</c:v>
                </c:pt>
                <c:pt idx="1">
                  <c:v>258.8</c:v>
                </c:pt>
                <c:pt idx="2">
                  <c:v>478.1</c:v>
                </c:pt>
                <c:pt idx="3">
                  <c:v>661.9</c:v>
                </c:pt>
                <c:pt idx="4">
                  <c:v>751.9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Commerce &amp; Discovery</c:v>
                </c:pt>
              </c:strCache>
            </c:strRef>
          </c:tx>
          <c:spPr>
            <a:solidFill>
              <a:srgbClr val="5B7A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109.1</c:v>
                </c:pt>
                <c:pt idx="1">
                  <c:v>327.4</c:v>
                </c:pt>
                <c:pt idx="2">
                  <c:v>558</c:v>
                </c:pt>
                <c:pt idx="3">
                  <c:v>728.2</c:v>
                </c:pt>
                <c:pt idx="4">
                  <c:v>789.4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Logistics</c:v>
                </c:pt>
              </c:strCache>
            </c:strRef>
          </c:tx>
          <c:spPr>
            <a:solidFill>
              <a:srgbClr val="3D5A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32.6</c:v>
                </c:pt>
                <c:pt idx="3">
                  <c:v>97.9</c:v>
                </c:pt>
                <c:pt idx="4">
                  <c:v>163.1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Financial Services</c:v>
                </c:pt>
              </c:strCache>
            </c:strRef>
          </c:tx>
          <c:spPr>
            <a:solidFill>
              <a:srgbClr val="2646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Sheet1!$J$2:$J$6</c:f>
              <c:numCache>
                <c:formatCode>General</c:formatCode>
                <c:ptCount val="5"/>
                <c:pt idx="0">
                  <c:v>0</c:v>
                </c:pt>
                <c:pt idx="1">
                  <c:v>11.2</c:v>
                </c:pt>
                <c:pt idx="2">
                  <c:v>33.8</c:v>
                </c:pt>
                <c:pt idx="3">
                  <c:v>83.2</c:v>
                </c:pt>
                <c:pt idx="4">
                  <c:v>165.8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Government</c:v>
                </c:pt>
              </c:strCache>
            </c:strRef>
          </c:tx>
          <c:spPr>
            <a:solidFill>
              <a:srgbClr val="8A9A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Sheet1!$K$2:$K$6</c:f>
              <c:numCache>
                <c:formatCode>General</c:formatCode>
                <c:ptCount val="5"/>
                <c:pt idx="0">
                  <c:v>3.4</c:v>
                </c:pt>
                <c:pt idx="1">
                  <c:v>25.9</c:v>
                </c:pt>
                <c:pt idx="2">
                  <c:v>64.1</c:v>
                </c:pt>
                <c:pt idx="3">
                  <c:v>100.1</c:v>
                </c:pt>
                <c:pt idx="4">
                  <c:v>122.2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Additional Sectors</c:v>
                </c:pt>
              </c:strCache>
            </c:strRef>
          </c:tx>
          <c:spPr>
            <a:solidFill>
              <a:srgbClr val="D68C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Sheet1!$L$2:$L$6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15.8</c:v>
                </c:pt>
                <c:pt idx="3">
                  <c:v>63</c:v>
                </c:pt>
                <c:pt idx="4">
                  <c:v>126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RE Rental Expansion</c:v>
                </c:pt>
              </c:strCache>
            </c:strRef>
          </c:tx>
          <c:spPr>
            <a:solidFill>
              <a:srgbClr val="4A57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Sheet1!$M$2:$M$6</c:f>
              <c:numCache>
                <c:formatCode>General</c:formatCode>
                <c:ptCount val="5"/>
                <c:pt idx="0">
                  <c:v>0</c:v>
                </c:pt>
                <c:pt idx="1">
                  <c:v>63</c:v>
                </c:pt>
                <c:pt idx="2">
                  <c:v>189</c:v>
                </c:pt>
                <c:pt idx="3">
                  <c:v>315</c:v>
                </c:pt>
                <c:pt idx="4">
                  <c:v>399</c:v>
                </c:pt>
              </c:numCache>
            </c:numRef>
          </c:val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Flagship &amp; Investment</c:v>
                </c:pt>
              </c:strCache>
            </c:strRef>
          </c:tx>
          <c:spPr>
            <a:solidFill>
              <a:srgbClr val="7A6C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Sheet1!$N$2:$N$6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20.2</c:v>
                </c:pt>
                <c:pt idx="4">
                  <c:v>95.6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1D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KES millions / year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2222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Modeled run-rate</c:v>
                </c:pt>
              </c:strCache>
            </c:strRef>
          </c:tx>
          <c:spPr>
            <a:solidFill>
              <a:srgbClr val="1B4332"/>
            </a:solidFill>
            <a:ln w="31750" cap="flat">
              <a:solidFill>
                <a:srgbClr val="1B43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0.16</c:v>
                </c:pt>
                <c:pt idx="1">
                  <c:v>0.63</c:v>
                </c:pt>
                <c:pt idx="2">
                  <c:v>1.42</c:v>
                </c:pt>
                <c:pt idx="3">
                  <c:v>2.33</c:v>
                </c:pt>
                <c:pt idx="4">
                  <c:v>3.09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($12M/mo)</c:v>
                </c:pt>
              </c:strCache>
            </c:strRef>
          </c:tx>
          <c:spPr>
            <a:solidFill>
              <a:srgbClr val="9E3B33"/>
            </a:solidFill>
            <a:ln w="31750" cap="flat">
              <a:solidFill>
                <a:srgbClr val="9E3B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E3B33"/>
              </a:solidFill>
              <a:ln w="9525" cap="flat">
                <a:solidFill>
                  <a:srgbClr val="9E3B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1D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USD millions /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41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1B433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INVESTMENT &amp; COMMERCE CONNECT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87-Pipeline Revenue Model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phased-launch, ramp-adjusted revenue projection across every pipeline in the KICC catalog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Financial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FC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strategy &amp; investment review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build-out across all 87 pipelines is financially real — but it does not reach the $12M/month target within five years.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1E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$37.1M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50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annual revenue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≈KES 4.78bn/yr, up from $1.9M in Year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1E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E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$3.09M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450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monthly run-rate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$12M/month steady-state target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1E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A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→ 5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450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launch waves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Year 1-5 rollout, not day-one launch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55448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1E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5256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450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Y1→Y5 CAGR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as later waves mature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160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to the $12M/month target is a rollout-speed and adoption-ramp finding, not a pipeline-count problem.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pipelines on top of 87 does not close it — most of the ceiling comes from how fast each pipeline can realistically ramp once launched, and how many high-value pipelines are still back-loaded into Year 3-5.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EFE7D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28523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revenue comes from at maturity: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Discovery (17%), Tourism (16%), Real Estate incl. rental expansion (18%), and Agriculture (25%) together account for roughly three-quarters of Year 5 revenue.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KICC Revenue Model  |  Modeled projection — see Assumptions &amp; methodology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Scope: 87 Pipelines Across 13 Categories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income line in the catalog is modeled individually — including split-out commodities and matchmaking-only lines with no direct take rate.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82296" cy="117043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554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02996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pipelines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04288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1193mm/yr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1463040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3A6B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463040"/>
            <a:ext cx="82296" cy="1170432"/>
          </a:xfrm>
          <a:prstGeom prst="rect">
            <a:avLst/>
          </a:prstGeom>
          <a:solidFill>
            <a:srgbClr val="3A6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554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02996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pipelines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04288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315mm/yr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98464" y="1463040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6B8F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8464" y="1463040"/>
            <a:ext cx="82296" cy="1170432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99632" y="1554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&amp; SEZ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02996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pipelines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2304288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156mm/yr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23376" y="1463040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23376" y="1463040"/>
            <a:ext cx="82296" cy="1170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24544" y="15544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Infra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202996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pipelines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924544" y="2304288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53mm/yr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2761488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B589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761488"/>
            <a:ext cx="82296" cy="1170432"/>
          </a:xfrm>
          <a:prstGeom prst="rect">
            <a:avLst/>
          </a:prstGeom>
          <a:solidFill>
            <a:srgbClr val="B589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285292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3328416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8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pipelines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360273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451mm/yr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73552" y="2761488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9E3B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73552" y="2761488"/>
            <a:ext cx="82296" cy="1170432"/>
          </a:xfrm>
          <a:prstGeom prst="rect">
            <a:avLst/>
          </a:prstGeom>
          <a:solidFill>
            <a:srgbClr val="9E3B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74720" y="285292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3328416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pipelines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360273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752mm/yr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98464" y="2761488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5B7A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98464" y="2761488"/>
            <a:ext cx="82296" cy="1170432"/>
          </a:xfrm>
          <a:prstGeom prst="rect">
            <a:avLst/>
          </a:prstGeom>
          <a:solidFill>
            <a:srgbClr val="5B7A9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99632" y="285292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Discovery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199632" y="3328416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pipelines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199632" y="360273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789mm/yr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23376" y="2761488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3D5A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23376" y="2761488"/>
            <a:ext cx="82296" cy="1170432"/>
          </a:xfrm>
          <a:prstGeom prst="rect">
            <a:avLst/>
          </a:prstGeom>
          <a:solidFill>
            <a:srgbClr val="3D5A7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24544" y="285292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924544" y="3328416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pipelines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924544" y="360273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163mm/yr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4059936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26465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4059936"/>
            <a:ext cx="82296" cy="117043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49808" y="415137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749808" y="4626864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pipelines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49808" y="490118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166mm/yr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73552" y="4059936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8A9A5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73552" y="4059936"/>
            <a:ext cx="82296" cy="1170432"/>
          </a:xfrm>
          <a:prstGeom prst="rect">
            <a:avLst/>
          </a:prstGeom>
          <a:solidFill>
            <a:srgbClr val="8A9A5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474720" y="415137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3474720" y="4626864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pipelines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3474720" y="490118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122mm/yr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998464" y="4059936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D68C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98464" y="4059936"/>
            <a:ext cx="82296" cy="1170432"/>
          </a:xfrm>
          <a:prstGeom prst="rect">
            <a:avLst/>
          </a:prstGeom>
          <a:solidFill>
            <a:srgbClr val="D68C45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199632" y="415137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Sectors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6199632" y="4626864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pipelines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199632" y="490118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126mm/yr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723376" y="4059936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4A575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23376" y="4059936"/>
            <a:ext cx="82296" cy="1170432"/>
          </a:xfrm>
          <a:prstGeom prst="rect">
            <a:avLst/>
          </a:prstGeom>
          <a:solidFill>
            <a:srgbClr val="4A5759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924544" y="415137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Rental Expansion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8924544" y="4626864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pipelines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8924544" y="490118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399mm/yr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48640" y="5358384"/>
            <a:ext cx="2633472" cy="1170432"/>
          </a:xfrm>
          <a:prstGeom prst="roundRect">
            <a:avLst>
              <a:gd name="adj" fmla="val 4688"/>
            </a:avLst>
          </a:prstGeom>
          <a:solidFill>
            <a:srgbClr val="F4F1EA"/>
          </a:solidFill>
          <a:ln w="15875">
            <a:solidFill>
              <a:srgbClr val="7A6C5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358384"/>
            <a:ext cx="82296" cy="1170432"/>
          </a:xfrm>
          <a:prstGeom prst="rect">
            <a:avLst/>
          </a:prstGeom>
          <a:solidFill>
            <a:srgbClr val="7A6C5D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749808" y="5449824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&amp; Investment</a:t>
            </a:r>
            <a:endParaRPr lang="en-US" sz="1250" dirty="0"/>
          </a:p>
        </p:txBody>
      </p:sp>
      <p:sp>
        <p:nvSpPr>
          <p:cNvPr id="67" name="Text 65"/>
          <p:cNvSpPr txBox="1"/>
          <p:nvPr/>
        </p:nvSpPr>
        <p:spPr>
          <a:xfrm>
            <a:off x="749808" y="5925312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6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pipelines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749808" y="619963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run-rate: KES 96mm/yr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KICC Revenue Model  |  Modeled projection — see Assumptions &amp; methodology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Phased Launch + Adoption Ramp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20700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pipeline gets a Launch Year (1-5).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estate, tourism majors and core marketplace go live Year 1; minerals, energy, financial services and flagship/investment lines are back-loaded to Year 3-5 once trust, data and licensing groundwork exist.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21408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pipeline gets a Steady-State maturity revenue estimate.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catalog's own scale language (“largest export earner” vs. “early-stage/exploration”) and stated commission ranges — a modeled estimate, not sourced market data.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0358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ramps after launch — it never jumps straight to maturity.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Revenue(year) = Steady-State × Ramp% since launch. No pipeline earns before it launches.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ramp curve (% of maturity revenue by years since launch)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411480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355080" y="411480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4F1EA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4251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waves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457200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45720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pipelines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45720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estate, marketplace commission, wildlife/beach tourism, gov subscriptions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49377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360920" y="49377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pipelines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49377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agri exports, rental expansion, compliance-as-service, credit data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53035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53035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pipelines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53035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Minerals, Industrial/SEZ matchmaking, logistics, healthtech, education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56692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56692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pipelines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56692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escrow float/lending referral, flagship venues, creative/sports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603504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360920" y="6035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pipelines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412480" y="60350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lending, equity facilitation, multi-zone SEZ, bulk trade brokerage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KICC Revenue Model  |  Modeled projection — see Assumptions &amp; methodology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Projected Revenue, Year 1-5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compounds as later waves mature and earlier waves finish ramping — not a straight line.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37160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4F1EA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Year-by-year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1874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326880" y="1874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$1.87M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028700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$0.16M/mo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2331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326880" y="2331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$7.6M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0287000" y="23317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$0.63M/mo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788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$17.08M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0287000" y="27889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$1.42M/mo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246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9326880" y="3246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$28M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0287000" y="32461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$2.33M/mo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703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$37.06M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0287000" y="37033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$3.09M/mo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321040" y="4206240"/>
            <a:ext cx="3108960" cy="0"/>
          </a:xfrm>
          <a:prstGeom prst="line">
            <a:avLst/>
          </a:prstGeom>
          <a:noFill/>
          <a:ln w="12700">
            <a:solidFill>
              <a:srgbClr val="CBC4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21040" y="4389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equivalent (Year 5)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321040" y="4681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4,780.3mm/yr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321040" y="5184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FX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321040" y="54772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129 / USD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KICC Revenue Model  |  Modeled projection — see Assumptions &amp; methodology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Category, Year 1-5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Discovery, Tourism, Real Estate and Agriculture drive the bulk of mature revenue; later-wave categories add breadth, not the base.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471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KICC Revenue Model  |  Modeled projection — see Assumptions &amp; methodology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Leaderboard — Year 5 Maturity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modeled Year-5 annual revenue (KES mm). Share of total shown at right.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520440" y="1453896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6" name="Shape 4"/>
          <p:cNvSpPr/>
          <p:nvPr/>
        </p:nvSpPr>
        <p:spPr>
          <a:xfrm>
            <a:off x="3520440" y="1453896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1B4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92640" y="14173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1,193mm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141732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1051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Discovery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1847088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1847088"/>
            <a:ext cx="3995019" cy="256032"/>
          </a:xfrm>
          <a:prstGeom prst="roundRect">
            <a:avLst>
              <a:gd name="adj" fmla="val 7143"/>
            </a:avLst>
          </a:prstGeom>
          <a:solidFill>
            <a:srgbClr val="5B7A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92640" y="181051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789mm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0" y="1810512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20370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20440" y="2240280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2240280"/>
            <a:ext cx="3805238" cy="256032"/>
          </a:xfrm>
          <a:prstGeom prst="roundRect">
            <a:avLst>
              <a:gd name="adj" fmla="val 7143"/>
            </a:avLst>
          </a:prstGeom>
          <a:solidFill>
            <a:srgbClr val="9E3B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220370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752mm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2203704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59689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20440" y="2633472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21" name="Shape 19"/>
          <p:cNvSpPr/>
          <p:nvPr/>
        </p:nvSpPr>
        <p:spPr>
          <a:xfrm>
            <a:off x="3520440" y="2633472"/>
            <a:ext cx="2282940" cy="256032"/>
          </a:xfrm>
          <a:prstGeom prst="roundRect">
            <a:avLst>
              <a:gd name="adj" fmla="val 7143"/>
            </a:avLst>
          </a:prstGeom>
          <a:solidFill>
            <a:srgbClr val="B589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259689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451mm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259689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99008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Rental Expansion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520440" y="3026664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0440" y="3026664"/>
            <a:ext cx="2019271" cy="256032"/>
          </a:xfrm>
          <a:prstGeom prst="roundRect">
            <a:avLst>
              <a:gd name="adj" fmla="val 7143"/>
            </a:avLst>
          </a:prstGeom>
          <a:solidFill>
            <a:srgbClr val="4A575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299008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399mm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2990088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38328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20440" y="3419856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0440" y="3419856"/>
            <a:ext cx="1593149" cy="256032"/>
          </a:xfrm>
          <a:prstGeom prst="roundRect">
            <a:avLst>
              <a:gd name="adj" fmla="val 7143"/>
            </a:avLst>
          </a:prstGeom>
          <a:solidFill>
            <a:srgbClr val="3A6B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33832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315mm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0" y="338328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77647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520440" y="3813048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36" name="Shape 34"/>
          <p:cNvSpPr/>
          <p:nvPr/>
        </p:nvSpPr>
        <p:spPr>
          <a:xfrm>
            <a:off x="3520440" y="3813048"/>
            <a:ext cx="839086" cy="256032"/>
          </a:xfrm>
          <a:prstGeom prst="roundRect">
            <a:avLst>
              <a:gd name="adj" fmla="val 7143"/>
            </a:avLst>
          </a:prstGeom>
          <a:solidFill>
            <a:srgbClr val="26465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377647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166mm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0" y="3776472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16966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520440" y="4206240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41" name="Shape 39"/>
          <p:cNvSpPr/>
          <p:nvPr/>
        </p:nvSpPr>
        <p:spPr>
          <a:xfrm>
            <a:off x="3520440" y="4206240"/>
            <a:ext cx="825421" cy="256032"/>
          </a:xfrm>
          <a:prstGeom prst="roundRect">
            <a:avLst>
              <a:gd name="adj" fmla="val 7143"/>
            </a:avLst>
          </a:prstGeom>
          <a:solidFill>
            <a:srgbClr val="3D5A7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416966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163mm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0972800" y="4169664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56285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&amp; SEZ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520440" y="4599432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46" name="Shape 44"/>
          <p:cNvSpPr/>
          <p:nvPr/>
        </p:nvSpPr>
        <p:spPr>
          <a:xfrm>
            <a:off x="3520440" y="4599432"/>
            <a:ext cx="789490" cy="256032"/>
          </a:xfrm>
          <a:prstGeom prst="roundRect">
            <a:avLst>
              <a:gd name="adj" fmla="val 7143"/>
            </a:avLst>
          </a:prstGeom>
          <a:solidFill>
            <a:srgbClr val="6B8F7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92640" y="456285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156mm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0972800" y="4562856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3.3%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495604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Sectors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520440" y="4992624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51" name="Shape 49"/>
          <p:cNvSpPr/>
          <p:nvPr/>
        </p:nvSpPr>
        <p:spPr>
          <a:xfrm>
            <a:off x="3520440" y="4992624"/>
            <a:ext cx="637665" cy="256032"/>
          </a:xfrm>
          <a:prstGeom prst="roundRect">
            <a:avLst>
              <a:gd name="adj" fmla="val 7143"/>
            </a:avLst>
          </a:prstGeom>
          <a:solidFill>
            <a:srgbClr val="D68C45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692640" y="495604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126mm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10972800" y="4956048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534924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520440" y="5385816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56" name="Shape 54"/>
          <p:cNvSpPr/>
          <p:nvPr/>
        </p:nvSpPr>
        <p:spPr>
          <a:xfrm>
            <a:off x="3520440" y="5385816"/>
            <a:ext cx="618433" cy="256032"/>
          </a:xfrm>
          <a:prstGeom prst="roundRect">
            <a:avLst>
              <a:gd name="adj" fmla="val 7143"/>
            </a:avLst>
          </a:prstGeom>
          <a:solidFill>
            <a:srgbClr val="8A9A5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692640" y="534924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122mm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0972800" y="5349240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574243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&amp; Investment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3520440" y="5779008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61" name="Shape 59"/>
          <p:cNvSpPr/>
          <p:nvPr/>
        </p:nvSpPr>
        <p:spPr>
          <a:xfrm>
            <a:off x="3520440" y="5779008"/>
            <a:ext cx="483815" cy="256032"/>
          </a:xfrm>
          <a:prstGeom prst="roundRect">
            <a:avLst>
              <a:gd name="adj" fmla="val 7143"/>
            </a:avLst>
          </a:prstGeom>
          <a:solidFill>
            <a:srgbClr val="7A6C5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692640" y="574243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96mm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10972800" y="5742432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61356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Infra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3520440" y="6172200"/>
            <a:ext cx="6035040" cy="256032"/>
          </a:xfrm>
          <a:prstGeom prst="roundRect">
            <a:avLst>
              <a:gd name="adj" fmla="val 7143"/>
            </a:avLst>
          </a:prstGeom>
          <a:solidFill>
            <a:srgbClr val="EDEAE0"/>
          </a:solidFill>
          <a:ln/>
        </p:spPr>
      </p:sp>
      <p:sp>
        <p:nvSpPr>
          <p:cNvPr id="66" name="Shape 64"/>
          <p:cNvSpPr/>
          <p:nvPr/>
        </p:nvSpPr>
        <p:spPr>
          <a:xfrm>
            <a:off x="3520440" y="6172200"/>
            <a:ext cx="267718" cy="256032"/>
          </a:xfrm>
          <a:prstGeom prst="roundRect">
            <a:avLst>
              <a:gd name="adj" fmla="val 7143"/>
            </a:avLst>
          </a:prstGeom>
          <a:solidFill>
            <a:srgbClr val="C9A227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692640" y="613562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53mm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10972800" y="6135624"/>
            <a:ext cx="685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KICC Revenue Model  |  Modeled projection — see Assumptions &amp; methodology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$12M/Month Target — An Honest Read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full 87-pipeline maturity, the model does not reach the target run-rate within five years.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71600"/>
            <a:ext cx="3840480" cy="4663440"/>
          </a:xfrm>
          <a:prstGeom prst="roundRect">
            <a:avLst>
              <a:gd name="adj" fmla="val 1429"/>
            </a:avLst>
          </a:prstGeom>
          <a:solidFill>
            <a:srgbClr val="F4F1EA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target by year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1000" y="1920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0" y="1920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$11.84M short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01000" y="23408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0" y="2340864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$11.37M short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01000" y="27614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0" y="27614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$10.58M short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01000" y="31821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0" y="31821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$9.67M short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01000" y="360273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0" y="360273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E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$8.91M short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01000" y="4160520"/>
            <a:ext cx="3291840" cy="0"/>
          </a:xfrm>
          <a:prstGeom prst="line">
            <a:avLst/>
          </a:prstGeom>
          <a:noFill/>
          <a:ln w="12700">
            <a:solidFill>
              <a:srgbClr val="CBC4A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01000" y="43434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E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 is structural, not a data-entry problem: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Adoption ramps take years, even for Year-1 pipelines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Highest-margin lines (minerals, gold, gemstones, equity) are Year 3-5 launches by design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Licence-gated lines (direct lending) can't move faster than the regulator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KICC Revenue Model  |  Modeled projection — see Assumptions &amp; methodology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Concentration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4F1E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08760"/>
            <a:ext cx="201168" cy="201168"/>
          </a:xfrm>
          <a:prstGeom prst="ellipse">
            <a:avLst/>
          </a:prstGeom>
          <a:solidFill>
            <a:srgbClr val="9E3B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4356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(Commerce, Tourism, Real Estate, Agriculture) drive ~75% of Year-5 revenue — underperformance in any one has an outsized effect on the total.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23444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4F1EA"/>
          </a:solidFill>
          <a:ln/>
        </p:spPr>
      </p:sp>
      <p:sp>
        <p:nvSpPr>
          <p:cNvPr id="8" name="Shape 6"/>
          <p:cNvSpPr/>
          <p:nvPr/>
        </p:nvSpPr>
        <p:spPr>
          <a:xfrm>
            <a:off x="6629400" y="15087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49440" y="14356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Regulatory-gated upside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196596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lending (#62), equity facilitation (#85), and escrow float (#59) need CBK approval before they can run at all — none of this revenue is guaranteed by the model date.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4F1E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160520"/>
            <a:ext cx="201168" cy="201168"/>
          </a:xfrm>
          <a:prstGeom prst="ellipse">
            <a:avLst/>
          </a:prstGeom>
          <a:solidFill>
            <a:srgbClr val="3A6B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0873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Ramp-speed risk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1772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model rests on the adoption curve (15/45/75/95/100%). A slower real-world ramp compounds across all 87 pipelines simultaneously.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388620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4F1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4160520"/>
            <a:ext cx="201168" cy="201168"/>
          </a:xfrm>
          <a:prstGeom prst="ellipse">
            <a:avLst/>
          </a:prstGeom>
          <a:solidFill>
            <a:srgbClr val="5B7A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40873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quality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617720"/>
            <a:ext cx="4800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values are modeled from qualitative catalog language, not sourced sector data — treat this as directional until validated against KNBS/CBK/sector-board figures.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KICC Revenue Model  |  Modeled projection — see Assumptions &amp; methodology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1B433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Recommended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527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a phasing model, not a forecast to commit to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184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“if pipelines launch on this schedule and ramp at this rate, what does revenue look like” — not “what is guaranteed.”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8541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steady-state values against real sector data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5117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catalog-language-derived estimates with KNBS trade data, CBK figures, and sector-board reports before using this for fundraising.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11810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four categories carrying 75% of revenue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48386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Discovery, Tourism, Real Estate, and Agriculture deserve the tightest execution focus and earliest go-lives.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507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regulatory-gated lines separately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41655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lending, equity facilitation, and escrow float sit outside KICC's control clock — model them as options, not committed revenue.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109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10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model quarterly against actuals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349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launch dates and ramp assumptions as real pipelines go live, rather than treating Year 1-5 as fixed.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KICC Revenue Model  |  Full pipeline-level detail and formulas in the accompanying workbook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2026-09-18T11:12:49Z</dcterms:created>
  <dcterms:modified xsi:type="dcterms:W3CDTF">2026-09-18T11:12:49Z</dcterms:modified>
</cp:coreProperties>
</file>